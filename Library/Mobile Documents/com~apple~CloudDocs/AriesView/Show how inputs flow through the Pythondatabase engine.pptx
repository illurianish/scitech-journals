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sldIdLst>
    <p:sldId id="352" r:id="rId5"/>
    <p:sldId id="353" r:id="rId6"/>
    <p:sldId id="358" r:id="rId7"/>
    <p:sldId id="356" r:id="rId8"/>
    <p:sldId id="3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E07285-7FDF-12B8-1D6F-AAAB4CB54DF7}" v="170" dt="2025-08-26T04:01:19.317"/>
    <p1510:client id="{F2EB99EC-C22A-9DEF-532C-A7A53720BDA8}" v="41" dt="2025-08-26T23:24:47.0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149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2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7D19E3-EFFA-4D46-888E-9EF19F0774D7}" type="datetimeFigureOut">
              <a:rPr lang="en-US" smtClean="0"/>
              <a:t>8/26/25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D9513-0024-1444-85B1-0D7B53079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697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904A7-752F-DE3E-C3A6-42F63000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848E5020-6C7C-6E9A-6D5C-4A28437B0937}"/>
              </a:ext>
            </a:extLst>
          </p:cNvPr>
          <p:cNvSpPr/>
          <p:nvPr/>
        </p:nvSpPr>
        <p:spPr>
          <a:xfrm>
            <a:off x="1594288" y="6398000"/>
            <a:ext cx="3982222" cy="362026"/>
          </a:xfrm>
          <a:custGeom>
            <a:avLst/>
            <a:gdLst/>
            <a:ahLst/>
            <a:cxnLst/>
            <a:rect l="l" t="t" r="r" b="b"/>
            <a:pathLst>
              <a:path w="3982222" h="362026">
                <a:moveTo>
                  <a:pt x="0" y="0"/>
                </a:moveTo>
                <a:lnTo>
                  <a:pt x="3982222" y="0"/>
                </a:lnTo>
                <a:lnTo>
                  <a:pt x="3982222" y="362026"/>
                </a:lnTo>
                <a:lnTo>
                  <a:pt x="0" y="362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8">
            <a:extLst>
              <a:ext uri="{FF2B5EF4-FFF2-40B4-BE49-F238E27FC236}">
                <a16:creationId xmlns:a16="http://schemas.microsoft.com/office/drawing/2014/main" id="{01B2C44C-55DA-D9BB-66B9-086B4E874EBB}"/>
              </a:ext>
            </a:extLst>
          </p:cNvPr>
          <p:cNvSpPr/>
          <p:nvPr/>
        </p:nvSpPr>
        <p:spPr>
          <a:xfrm>
            <a:off x="387767" y="135952"/>
            <a:ext cx="801265" cy="448709"/>
          </a:xfrm>
          <a:custGeom>
            <a:avLst/>
            <a:gdLst/>
            <a:ahLst/>
            <a:cxnLst/>
            <a:rect l="l" t="t" r="r" b="b"/>
            <a:pathLst>
              <a:path w="1201898" h="673063">
                <a:moveTo>
                  <a:pt x="0" y="0"/>
                </a:moveTo>
                <a:lnTo>
                  <a:pt x="1201898" y="0"/>
                </a:lnTo>
                <a:lnTo>
                  <a:pt x="1201898" y="673062"/>
                </a:lnTo>
                <a:lnTo>
                  <a:pt x="0" y="6730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12" name="Group 2">
            <a:extLst>
              <a:ext uri="{FF2B5EF4-FFF2-40B4-BE49-F238E27FC236}">
                <a16:creationId xmlns:a16="http://schemas.microsoft.com/office/drawing/2014/main" id="{CCF9A19E-782B-D57E-0CEC-CA12B40921A5}"/>
              </a:ext>
            </a:extLst>
          </p:cNvPr>
          <p:cNvGrpSpPr/>
          <p:nvPr/>
        </p:nvGrpSpPr>
        <p:grpSpPr>
          <a:xfrm>
            <a:off x="11506200" y="-96441"/>
            <a:ext cx="685800" cy="782241"/>
            <a:chOff x="0" y="-38100"/>
            <a:chExt cx="270933" cy="309033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4D385304-8E8A-6DDE-1100-0FBD988DC9A1}"/>
                </a:ext>
              </a:extLst>
            </p:cNvPr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D50E08"/>
            </a:solidFill>
          </p:spPr>
          <p:txBody>
            <a:bodyPr/>
            <a:lstStyle/>
            <a:p>
              <a:endParaRPr lang="en-US" sz="1200">
                <a:latin typeface="Arial"/>
                <a:cs typeface="Arial"/>
              </a:endParaRPr>
            </a:p>
          </p:txBody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FD6569CC-442A-9C6F-00A7-D5A78E2B13BB}"/>
                </a:ext>
              </a:extLst>
            </p:cNvPr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>
                <a:latin typeface="Arial"/>
                <a:cs typeface="Arial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4045CC5-AC21-A1DC-EA34-9143A572121C}"/>
              </a:ext>
            </a:extLst>
          </p:cNvPr>
          <p:cNvGrpSpPr/>
          <p:nvPr/>
        </p:nvGrpSpPr>
        <p:grpSpPr>
          <a:xfrm flipH="1">
            <a:off x="11588250" y="5200883"/>
            <a:ext cx="374506" cy="1377935"/>
            <a:chOff x="11824756" y="6441234"/>
            <a:chExt cx="32195" cy="70295"/>
          </a:xfrm>
        </p:grpSpPr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149E4870-E68D-1B21-6349-66627CF11125}"/>
                </a:ext>
              </a:extLst>
            </p:cNvPr>
            <p:cNvSpPr/>
            <p:nvPr/>
          </p:nvSpPr>
          <p:spPr>
            <a:xfrm>
              <a:off x="11824756" y="6479334"/>
              <a:ext cx="32195" cy="32195"/>
            </a:xfrm>
            <a:custGeom>
              <a:avLst/>
              <a:gdLst/>
              <a:ahLst/>
              <a:cxnLst/>
              <a:rect l="l" t="t" r="r" b="b"/>
              <a:pathLst>
                <a:path w="32195" h="32195">
                  <a:moveTo>
                    <a:pt x="0" y="0"/>
                  </a:moveTo>
                  <a:lnTo>
                    <a:pt x="32195" y="0"/>
                  </a:lnTo>
                  <a:lnTo>
                    <a:pt x="32195" y="32195"/>
                  </a:lnTo>
                  <a:lnTo>
                    <a:pt x="0" y="32195"/>
                  </a:lnTo>
                  <a:close/>
                </a:path>
              </a:pathLst>
            </a:custGeom>
            <a:solidFill>
              <a:srgbClr val="D50E08"/>
            </a:solidFill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200">
                <a:latin typeface="Arial"/>
                <a:cs typeface="Arial"/>
              </a:endParaRPr>
            </a:p>
          </p:txBody>
        </p:sp>
        <p:sp>
          <p:nvSpPr>
            <p:cNvPr id="31" name="TextBox 11">
              <a:extLst>
                <a:ext uri="{FF2B5EF4-FFF2-40B4-BE49-F238E27FC236}">
                  <a16:creationId xmlns:a16="http://schemas.microsoft.com/office/drawing/2014/main" id="{0DF82771-8836-315B-8C17-B6E8D0987A73}"/>
                </a:ext>
              </a:extLst>
            </p:cNvPr>
            <p:cNvSpPr txBox="1"/>
            <p:nvPr/>
          </p:nvSpPr>
          <p:spPr>
            <a:xfrm>
              <a:off x="11824756" y="6441234"/>
              <a:ext cx="32195" cy="7029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>
                <a:latin typeface="Arial"/>
                <a:cs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2F7A249-A6D6-EC0D-C86C-359ADE6644EF}"/>
              </a:ext>
            </a:extLst>
          </p:cNvPr>
          <p:cNvSpPr txBox="1"/>
          <p:nvPr/>
        </p:nvSpPr>
        <p:spPr>
          <a:xfrm>
            <a:off x="864000" y="840000"/>
            <a:ext cx="10428000" cy="720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CF12E1-0630-0CA7-7B63-E63E687ACBC4}"/>
              </a:ext>
            </a:extLst>
          </p:cNvPr>
          <p:cNvSpPr txBox="1"/>
          <p:nvPr/>
        </p:nvSpPr>
        <p:spPr>
          <a:xfrm>
            <a:off x="710005" y="688872"/>
            <a:ext cx="5604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User Data Ingestion (Node.js Backend)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2824FE-33AF-7539-26E9-5CBBF1402FD5}"/>
              </a:ext>
            </a:extLst>
          </p:cNvPr>
          <p:cNvSpPr txBox="1"/>
          <p:nvPr/>
        </p:nvSpPr>
        <p:spPr>
          <a:xfrm>
            <a:off x="710005" y="1365535"/>
            <a:ext cx="986476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How users provide data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Manual Property Entry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File: /BACK/</a:t>
            </a:r>
            <a:r>
              <a:rPr lang="en-US" sz="1600" dirty="0" err="1"/>
              <a:t>ariesview</a:t>
            </a:r>
            <a:r>
              <a:rPr lang="en-US" sz="1600" dirty="0"/>
              <a:t>-backend/routes/</a:t>
            </a:r>
            <a:r>
              <a:rPr lang="en-US" sz="1600" dirty="0" err="1"/>
              <a:t>property.js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Endpoint: POST /</a:t>
            </a:r>
            <a:r>
              <a:rPr lang="en-US" sz="1600" dirty="0" err="1"/>
              <a:t>api</a:t>
            </a:r>
            <a:r>
              <a:rPr lang="en-US" sz="1600" dirty="0"/>
              <a:t>/property/add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Example: when a user fills out “Property Name” or “Address” in the form, the backend validates fields (lines 129-134) and inserts them into the </a:t>
            </a:r>
            <a:r>
              <a:rPr lang="en-US" sz="1600" b="1" dirty="0"/>
              <a:t>properties</a:t>
            </a:r>
            <a:r>
              <a:rPr lang="en-US" sz="1600" dirty="0"/>
              <a:t> 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Unit Information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File: /BACK/</a:t>
            </a:r>
            <a:r>
              <a:rPr lang="en-US" sz="1600" dirty="0" err="1"/>
              <a:t>ariesview</a:t>
            </a:r>
            <a:r>
              <a:rPr lang="en-US" sz="1600" dirty="0"/>
              <a:t>-backend/routes/</a:t>
            </a:r>
            <a:r>
              <a:rPr lang="en-US" sz="1600" dirty="0" err="1"/>
              <a:t>property_add.js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Endpoint: POST /</a:t>
            </a:r>
            <a:r>
              <a:rPr lang="en-US" sz="1600" dirty="0" err="1"/>
              <a:t>api</a:t>
            </a:r>
            <a:r>
              <a:rPr lang="en-US" sz="1600" dirty="0"/>
              <a:t>/</a:t>
            </a:r>
            <a:r>
              <a:rPr lang="en-US" sz="1600" dirty="0" err="1"/>
              <a:t>property_add</a:t>
            </a:r>
            <a:r>
              <a:rPr lang="en-US" sz="1600" dirty="0"/>
              <a:t>/</a:t>
            </a:r>
            <a:r>
              <a:rPr lang="en-US" sz="1600" dirty="0" err="1"/>
              <a:t>unit_add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Loops through each unit in the request and writes to 6 tables (units, </a:t>
            </a:r>
            <a:r>
              <a:rPr lang="en-US" sz="1600" dirty="0" err="1"/>
              <a:t>financial_leases</a:t>
            </a:r>
            <a:r>
              <a:rPr lang="en-US" sz="1600" dirty="0"/>
              <a:t>, </a:t>
            </a:r>
            <a:r>
              <a:rPr lang="en-US" sz="1600" dirty="0" err="1"/>
              <a:t>core_lease_information</a:t>
            </a:r>
            <a:r>
              <a:rPr lang="en-US" sz="1600" dirty="0"/>
              <a:t>, etc.).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Financial Details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File: /BACK/</a:t>
            </a:r>
            <a:r>
              <a:rPr lang="en-US" sz="1600" dirty="0" err="1"/>
              <a:t>ariesview</a:t>
            </a:r>
            <a:r>
              <a:rPr lang="en-US" sz="1600" dirty="0"/>
              <a:t>-backend/routes/</a:t>
            </a:r>
            <a:r>
              <a:rPr lang="en-US" sz="1600" dirty="0" err="1"/>
              <a:t>property.js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Endpoint: POST /</a:t>
            </a:r>
            <a:r>
              <a:rPr lang="en-US" sz="1600" dirty="0" err="1"/>
              <a:t>api</a:t>
            </a:r>
            <a:r>
              <a:rPr lang="en-US" sz="1600" dirty="0"/>
              <a:t>/property/</a:t>
            </a:r>
            <a:r>
              <a:rPr lang="en-US" sz="1600" dirty="0" err="1"/>
              <a:t>property_details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Functions like </a:t>
            </a:r>
            <a:r>
              <a:rPr lang="en-US" sz="1600" dirty="0" err="1"/>
              <a:t>getGrowthValues</a:t>
            </a:r>
            <a:r>
              <a:rPr lang="en-US" sz="1600" dirty="0"/>
              <a:t>() turn JSON growth arrays into usable year-by-year values, stored in PostgreSQL.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49803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03A77-66EA-676F-911C-BD502F0EC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A19A3409-8288-5D88-9BAE-45D83D72FB28}"/>
              </a:ext>
            </a:extLst>
          </p:cNvPr>
          <p:cNvSpPr/>
          <p:nvPr/>
        </p:nvSpPr>
        <p:spPr>
          <a:xfrm>
            <a:off x="1594288" y="6398000"/>
            <a:ext cx="3982222" cy="362026"/>
          </a:xfrm>
          <a:custGeom>
            <a:avLst/>
            <a:gdLst/>
            <a:ahLst/>
            <a:cxnLst/>
            <a:rect l="l" t="t" r="r" b="b"/>
            <a:pathLst>
              <a:path w="3982222" h="362026">
                <a:moveTo>
                  <a:pt x="0" y="0"/>
                </a:moveTo>
                <a:lnTo>
                  <a:pt x="3982222" y="0"/>
                </a:lnTo>
                <a:lnTo>
                  <a:pt x="3982222" y="362026"/>
                </a:lnTo>
                <a:lnTo>
                  <a:pt x="0" y="362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8">
            <a:extLst>
              <a:ext uri="{FF2B5EF4-FFF2-40B4-BE49-F238E27FC236}">
                <a16:creationId xmlns:a16="http://schemas.microsoft.com/office/drawing/2014/main" id="{A58B978E-0F32-8CAF-4970-142D20416228}"/>
              </a:ext>
            </a:extLst>
          </p:cNvPr>
          <p:cNvSpPr/>
          <p:nvPr/>
        </p:nvSpPr>
        <p:spPr>
          <a:xfrm>
            <a:off x="387767" y="135952"/>
            <a:ext cx="801265" cy="448709"/>
          </a:xfrm>
          <a:custGeom>
            <a:avLst/>
            <a:gdLst/>
            <a:ahLst/>
            <a:cxnLst/>
            <a:rect l="l" t="t" r="r" b="b"/>
            <a:pathLst>
              <a:path w="1201898" h="673063">
                <a:moveTo>
                  <a:pt x="0" y="0"/>
                </a:moveTo>
                <a:lnTo>
                  <a:pt x="1201898" y="0"/>
                </a:lnTo>
                <a:lnTo>
                  <a:pt x="1201898" y="673062"/>
                </a:lnTo>
                <a:lnTo>
                  <a:pt x="0" y="6730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12" name="Group 2">
            <a:extLst>
              <a:ext uri="{FF2B5EF4-FFF2-40B4-BE49-F238E27FC236}">
                <a16:creationId xmlns:a16="http://schemas.microsoft.com/office/drawing/2014/main" id="{C988D64E-2042-1922-078C-F0CBFF4F8B5B}"/>
              </a:ext>
            </a:extLst>
          </p:cNvPr>
          <p:cNvGrpSpPr/>
          <p:nvPr/>
        </p:nvGrpSpPr>
        <p:grpSpPr>
          <a:xfrm>
            <a:off x="11506200" y="-96441"/>
            <a:ext cx="685800" cy="782241"/>
            <a:chOff x="0" y="-38100"/>
            <a:chExt cx="270933" cy="309033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F6008EF6-30D3-B1B8-58E3-E72BD9035D34}"/>
                </a:ext>
              </a:extLst>
            </p:cNvPr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D50E08"/>
            </a:solidFill>
          </p:spPr>
          <p:txBody>
            <a:bodyPr/>
            <a:lstStyle/>
            <a:p>
              <a:endParaRPr lang="en-US" sz="1200">
                <a:latin typeface="Arial"/>
                <a:cs typeface="Arial"/>
              </a:endParaRPr>
            </a:p>
          </p:txBody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DEB7684C-10B6-E836-9958-A04D35546A98}"/>
                </a:ext>
              </a:extLst>
            </p:cNvPr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>
                <a:latin typeface="Arial"/>
                <a:cs typeface="Arial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A414334-2053-53E0-326B-8CF1455D749E}"/>
              </a:ext>
            </a:extLst>
          </p:cNvPr>
          <p:cNvGrpSpPr/>
          <p:nvPr/>
        </p:nvGrpSpPr>
        <p:grpSpPr>
          <a:xfrm flipH="1">
            <a:off x="11588250" y="5200883"/>
            <a:ext cx="374506" cy="1377935"/>
            <a:chOff x="11824756" y="6441234"/>
            <a:chExt cx="32195" cy="70295"/>
          </a:xfrm>
        </p:grpSpPr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DE68B4BD-C352-1512-2C7C-CE981D75E0CA}"/>
                </a:ext>
              </a:extLst>
            </p:cNvPr>
            <p:cNvSpPr/>
            <p:nvPr/>
          </p:nvSpPr>
          <p:spPr>
            <a:xfrm>
              <a:off x="11824756" y="6479334"/>
              <a:ext cx="32195" cy="32195"/>
            </a:xfrm>
            <a:custGeom>
              <a:avLst/>
              <a:gdLst/>
              <a:ahLst/>
              <a:cxnLst/>
              <a:rect l="l" t="t" r="r" b="b"/>
              <a:pathLst>
                <a:path w="32195" h="32195">
                  <a:moveTo>
                    <a:pt x="0" y="0"/>
                  </a:moveTo>
                  <a:lnTo>
                    <a:pt x="32195" y="0"/>
                  </a:lnTo>
                  <a:lnTo>
                    <a:pt x="32195" y="32195"/>
                  </a:lnTo>
                  <a:lnTo>
                    <a:pt x="0" y="32195"/>
                  </a:lnTo>
                  <a:close/>
                </a:path>
              </a:pathLst>
            </a:custGeom>
            <a:solidFill>
              <a:srgbClr val="D50E08"/>
            </a:solidFill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200">
                <a:latin typeface="Arial"/>
                <a:cs typeface="Arial"/>
              </a:endParaRPr>
            </a:p>
          </p:txBody>
        </p:sp>
        <p:sp>
          <p:nvSpPr>
            <p:cNvPr id="31" name="TextBox 11">
              <a:extLst>
                <a:ext uri="{FF2B5EF4-FFF2-40B4-BE49-F238E27FC236}">
                  <a16:creationId xmlns:a16="http://schemas.microsoft.com/office/drawing/2014/main" id="{23E8507E-1255-5C62-A463-4591BA432876}"/>
                </a:ext>
              </a:extLst>
            </p:cNvPr>
            <p:cNvSpPr txBox="1"/>
            <p:nvPr/>
          </p:nvSpPr>
          <p:spPr>
            <a:xfrm>
              <a:off x="11824756" y="6441234"/>
              <a:ext cx="32195" cy="7029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>
                <a:latin typeface="Arial"/>
                <a:cs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60B3F96-5B03-8CB6-2B8E-51C9EA59F171}"/>
              </a:ext>
            </a:extLst>
          </p:cNvPr>
          <p:cNvSpPr txBox="1"/>
          <p:nvPr/>
        </p:nvSpPr>
        <p:spPr>
          <a:xfrm>
            <a:off x="713095" y="685800"/>
            <a:ext cx="7196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Document Processing &amp; AI Integration (OCR + RAG)</a:t>
            </a:r>
          </a:p>
          <a:p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0730C9-F00B-E764-251F-2FA22FC03F72}"/>
              </a:ext>
            </a:extLst>
          </p:cNvPr>
          <p:cNvSpPr txBox="1"/>
          <p:nvPr/>
        </p:nvSpPr>
        <p:spPr>
          <a:xfrm>
            <a:off x="713095" y="1141243"/>
            <a:ext cx="973258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What happens when documents are uploaded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Document Upload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File: /BACK/</a:t>
            </a:r>
            <a:r>
              <a:rPr lang="en-US" sz="1600" dirty="0" err="1"/>
              <a:t>ariesview</a:t>
            </a:r>
            <a:r>
              <a:rPr lang="en-US" sz="1600" dirty="0"/>
              <a:t>-backend/routes/</a:t>
            </a:r>
            <a:r>
              <a:rPr lang="en-US" sz="1600" dirty="0" err="1"/>
              <a:t>document.js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Endpoint: POST /</a:t>
            </a:r>
            <a:r>
              <a:rPr lang="en-US" sz="1600" dirty="0" err="1"/>
              <a:t>api</a:t>
            </a:r>
            <a:r>
              <a:rPr lang="en-US" sz="1600" dirty="0"/>
              <a:t>/documents/properties/:</a:t>
            </a:r>
            <a:r>
              <a:rPr lang="en-US" sz="1600" dirty="0" err="1"/>
              <a:t>propertyId</a:t>
            </a:r>
            <a:r>
              <a:rPr lang="en-US" sz="1600" dirty="0"/>
              <a:t>/documents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Files are stored in </a:t>
            </a:r>
            <a:r>
              <a:rPr lang="en-US" sz="1600" b="1" dirty="0"/>
              <a:t>Azure Blob Storage</a:t>
            </a:r>
            <a:r>
              <a:rPr lang="en-US" sz="1600" dirty="0"/>
              <a:t> using unique blob names (uuidv4() + original filename).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OCR Service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File: /BACK/</a:t>
            </a:r>
            <a:r>
              <a:rPr lang="en-US" sz="1600" dirty="0" err="1"/>
              <a:t>ariesview</a:t>
            </a:r>
            <a:r>
              <a:rPr lang="en-US" sz="1600" dirty="0"/>
              <a:t>-backend/services/</a:t>
            </a:r>
            <a:r>
              <a:rPr lang="en-US" sz="1600" dirty="0" err="1"/>
              <a:t>ocrService.js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Calls external OCR at </a:t>
            </a:r>
            <a:r>
              <a:rPr lang="en-US" sz="1600" dirty="0" err="1"/>
              <a:t>process.env.OCR_SERVICE_URL</a:t>
            </a:r>
            <a:r>
              <a:rPr lang="en-US" sz="16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Example: a rent roll PDF gets converted into structured JSON with tenant names and rent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AI/RAG Processing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Repo: /DATA-AI/rag-pipeline/</a:t>
            </a:r>
            <a:r>
              <a:rPr lang="en-US" sz="1600" dirty="0" err="1"/>
              <a:t>main.py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Creates </a:t>
            </a:r>
            <a:r>
              <a:rPr lang="en-US" sz="1600" b="1" dirty="0"/>
              <a:t>user-specific Weaviate collections</a:t>
            </a:r>
            <a:r>
              <a:rPr lang="en-US" sz="1600" dirty="0"/>
              <a:t> (e.g., User_{</a:t>
            </a:r>
            <a:r>
              <a:rPr lang="en-US" sz="1600" dirty="0" err="1"/>
              <a:t>user_id</a:t>
            </a:r>
            <a:r>
              <a:rPr lang="en-US" sz="1600" dirty="0"/>
              <a:t>}) and stores vector embeddings.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Embeddings built with </a:t>
            </a:r>
            <a:r>
              <a:rPr lang="en-US" sz="1600" dirty="0" err="1"/>
              <a:t>HuggingFace</a:t>
            </a:r>
            <a:r>
              <a:rPr lang="en-US" sz="1600" dirty="0"/>
              <a:t> sentence-transformers/all-MiniLM-L6-v2.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Endpoint: POST /</a:t>
            </a:r>
            <a:r>
              <a:rPr lang="en-US" sz="1600" dirty="0" err="1"/>
              <a:t>api</a:t>
            </a:r>
            <a:r>
              <a:rPr lang="en-US" sz="1600" dirty="0"/>
              <a:t>/ai/rag-query lets users ask “What’s the loan term in this document?” and retrieve context-aware answers.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93101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CE2B5-DBA2-A68D-1F80-AF891091F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A0F4BAF3-9D68-710B-9382-10DB06946606}"/>
              </a:ext>
            </a:extLst>
          </p:cNvPr>
          <p:cNvSpPr/>
          <p:nvPr/>
        </p:nvSpPr>
        <p:spPr>
          <a:xfrm>
            <a:off x="1594288" y="6398000"/>
            <a:ext cx="3982222" cy="362026"/>
          </a:xfrm>
          <a:custGeom>
            <a:avLst/>
            <a:gdLst/>
            <a:ahLst/>
            <a:cxnLst/>
            <a:rect l="l" t="t" r="r" b="b"/>
            <a:pathLst>
              <a:path w="3982222" h="362026">
                <a:moveTo>
                  <a:pt x="0" y="0"/>
                </a:moveTo>
                <a:lnTo>
                  <a:pt x="3982222" y="0"/>
                </a:lnTo>
                <a:lnTo>
                  <a:pt x="3982222" y="362026"/>
                </a:lnTo>
                <a:lnTo>
                  <a:pt x="0" y="362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8">
            <a:extLst>
              <a:ext uri="{FF2B5EF4-FFF2-40B4-BE49-F238E27FC236}">
                <a16:creationId xmlns:a16="http://schemas.microsoft.com/office/drawing/2014/main" id="{B958665F-180C-88D2-C06F-7D68C6E1DB05}"/>
              </a:ext>
            </a:extLst>
          </p:cNvPr>
          <p:cNvSpPr/>
          <p:nvPr/>
        </p:nvSpPr>
        <p:spPr>
          <a:xfrm>
            <a:off x="387767" y="135952"/>
            <a:ext cx="801265" cy="448709"/>
          </a:xfrm>
          <a:custGeom>
            <a:avLst/>
            <a:gdLst/>
            <a:ahLst/>
            <a:cxnLst/>
            <a:rect l="l" t="t" r="r" b="b"/>
            <a:pathLst>
              <a:path w="1201898" h="673063">
                <a:moveTo>
                  <a:pt x="0" y="0"/>
                </a:moveTo>
                <a:lnTo>
                  <a:pt x="1201898" y="0"/>
                </a:lnTo>
                <a:lnTo>
                  <a:pt x="1201898" y="673062"/>
                </a:lnTo>
                <a:lnTo>
                  <a:pt x="0" y="6730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12" name="Group 2">
            <a:extLst>
              <a:ext uri="{FF2B5EF4-FFF2-40B4-BE49-F238E27FC236}">
                <a16:creationId xmlns:a16="http://schemas.microsoft.com/office/drawing/2014/main" id="{F63C55BF-0C72-A2FD-2F7D-8489D34F3D6A}"/>
              </a:ext>
            </a:extLst>
          </p:cNvPr>
          <p:cNvGrpSpPr/>
          <p:nvPr/>
        </p:nvGrpSpPr>
        <p:grpSpPr>
          <a:xfrm>
            <a:off x="11506200" y="-96441"/>
            <a:ext cx="685800" cy="782241"/>
            <a:chOff x="0" y="-38100"/>
            <a:chExt cx="270933" cy="309033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820EE5BD-7457-7F76-6B7A-51796472B54E}"/>
                </a:ext>
              </a:extLst>
            </p:cNvPr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D50E08"/>
            </a:solidFill>
          </p:spPr>
          <p:txBody>
            <a:bodyPr/>
            <a:lstStyle/>
            <a:p>
              <a:endParaRPr lang="en-US" sz="1200">
                <a:latin typeface="Arial"/>
                <a:cs typeface="Arial"/>
              </a:endParaRPr>
            </a:p>
          </p:txBody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2A7FAD1D-C199-1520-637B-C0A4531C8AF1}"/>
                </a:ext>
              </a:extLst>
            </p:cNvPr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>
                <a:latin typeface="Arial"/>
                <a:cs typeface="Arial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FAC1060-F00D-DF11-F495-0E4A30B17781}"/>
              </a:ext>
            </a:extLst>
          </p:cNvPr>
          <p:cNvGrpSpPr/>
          <p:nvPr/>
        </p:nvGrpSpPr>
        <p:grpSpPr>
          <a:xfrm flipH="1">
            <a:off x="11588250" y="5200883"/>
            <a:ext cx="374506" cy="1377935"/>
            <a:chOff x="11824756" y="6441234"/>
            <a:chExt cx="32195" cy="70295"/>
          </a:xfrm>
        </p:grpSpPr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B37848A2-6C68-51FB-D928-FE61D33F96A6}"/>
                </a:ext>
              </a:extLst>
            </p:cNvPr>
            <p:cNvSpPr/>
            <p:nvPr/>
          </p:nvSpPr>
          <p:spPr>
            <a:xfrm>
              <a:off x="11824756" y="6479334"/>
              <a:ext cx="32195" cy="32195"/>
            </a:xfrm>
            <a:custGeom>
              <a:avLst/>
              <a:gdLst/>
              <a:ahLst/>
              <a:cxnLst/>
              <a:rect l="l" t="t" r="r" b="b"/>
              <a:pathLst>
                <a:path w="32195" h="32195">
                  <a:moveTo>
                    <a:pt x="0" y="0"/>
                  </a:moveTo>
                  <a:lnTo>
                    <a:pt x="32195" y="0"/>
                  </a:lnTo>
                  <a:lnTo>
                    <a:pt x="32195" y="32195"/>
                  </a:lnTo>
                  <a:lnTo>
                    <a:pt x="0" y="32195"/>
                  </a:lnTo>
                  <a:close/>
                </a:path>
              </a:pathLst>
            </a:custGeom>
            <a:solidFill>
              <a:srgbClr val="D50E08"/>
            </a:solidFill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200">
                <a:latin typeface="Arial"/>
                <a:cs typeface="Arial"/>
              </a:endParaRPr>
            </a:p>
          </p:txBody>
        </p:sp>
        <p:sp>
          <p:nvSpPr>
            <p:cNvPr id="31" name="TextBox 11">
              <a:extLst>
                <a:ext uri="{FF2B5EF4-FFF2-40B4-BE49-F238E27FC236}">
                  <a16:creationId xmlns:a16="http://schemas.microsoft.com/office/drawing/2014/main" id="{7C34FED6-5908-CB82-6D51-A8FAC4A58D83}"/>
                </a:ext>
              </a:extLst>
            </p:cNvPr>
            <p:cNvSpPr txBox="1"/>
            <p:nvPr/>
          </p:nvSpPr>
          <p:spPr>
            <a:xfrm>
              <a:off x="11824756" y="6441234"/>
              <a:ext cx="32195" cy="7029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>
                <a:latin typeface="Arial"/>
                <a:cs typeface="Arial"/>
              </a:endParaRPr>
            </a:p>
          </p:txBody>
        </p:sp>
      </p:grpSp>
      <p:pic>
        <p:nvPicPr>
          <p:cNvPr id="8" name="Picture 7" descr="A diagram of a diagram&#10;&#10;AI-generated content may be incorrect.">
            <a:extLst>
              <a:ext uri="{FF2B5EF4-FFF2-40B4-BE49-F238E27FC236}">
                <a16:creationId xmlns:a16="http://schemas.microsoft.com/office/drawing/2014/main" id="{B941AA5D-35B1-15B5-019D-571826C754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341" y="166743"/>
            <a:ext cx="5767317" cy="652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759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50F24-2462-CDDB-3273-810E80AE2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E5BA3B81-F224-D10C-473C-4546C2AA492D}"/>
              </a:ext>
            </a:extLst>
          </p:cNvPr>
          <p:cNvSpPr/>
          <p:nvPr/>
        </p:nvSpPr>
        <p:spPr>
          <a:xfrm>
            <a:off x="1594288" y="6398000"/>
            <a:ext cx="3982222" cy="362026"/>
          </a:xfrm>
          <a:custGeom>
            <a:avLst/>
            <a:gdLst/>
            <a:ahLst/>
            <a:cxnLst/>
            <a:rect l="l" t="t" r="r" b="b"/>
            <a:pathLst>
              <a:path w="3982222" h="362026">
                <a:moveTo>
                  <a:pt x="0" y="0"/>
                </a:moveTo>
                <a:lnTo>
                  <a:pt x="3982222" y="0"/>
                </a:lnTo>
                <a:lnTo>
                  <a:pt x="3982222" y="362026"/>
                </a:lnTo>
                <a:lnTo>
                  <a:pt x="0" y="362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8">
            <a:extLst>
              <a:ext uri="{FF2B5EF4-FFF2-40B4-BE49-F238E27FC236}">
                <a16:creationId xmlns:a16="http://schemas.microsoft.com/office/drawing/2014/main" id="{D9444CF8-173E-0790-FAD6-2247C22DB25E}"/>
              </a:ext>
            </a:extLst>
          </p:cNvPr>
          <p:cNvSpPr/>
          <p:nvPr/>
        </p:nvSpPr>
        <p:spPr>
          <a:xfrm>
            <a:off x="387767" y="135952"/>
            <a:ext cx="801265" cy="448709"/>
          </a:xfrm>
          <a:custGeom>
            <a:avLst/>
            <a:gdLst/>
            <a:ahLst/>
            <a:cxnLst/>
            <a:rect l="l" t="t" r="r" b="b"/>
            <a:pathLst>
              <a:path w="1201898" h="673063">
                <a:moveTo>
                  <a:pt x="0" y="0"/>
                </a:moveTo>
                <a:lnTo>
                  <a:pt x="1201898" y="0"/>
                </a:lnTo>
                <a:lnTo>
                  <a:pt x="1201898" y="673062"/>
                </a:lnTo>
                <a:lnTo>
                  <a:pt x="0" y="6730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12" name="Group 2">
            <a:extLst>
              <a:ext uri="{FF2B5EF4-FFF2-40B4-BE49-F238E27FC236}">
                <a16:creationId xmlns:a16="http://schemas.microsoft.com/office/drawing/2014/main" id="{956A6E52-D622-282F-12B3-22A41DBC0A8A}"/>
              </a:ext>
            </a:extLst>
          </p:cNvPr>
          <p:cNvGrpSpPr/>
          <p:nvPr/>
        </p:nvGrpSpPr>
        <p:grpSpPr>
          <a:xfrm>
            <a:off x="11506200" y="-96441"/>
            <a:ext cx="685800" cy="782241"/>
            <a:chOff x="0" y="-38100"/>
            <a:chExt cx="270933" cy="309033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B0E44F67-8F3F-D0FE-F8BC-3DCB3FEAADD4}"/>
                </a:ext>
              </a:extLst>
            </p:cNvPr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D50E08"/>
            </a:solidFill>
          </p:spPr>
          <p:txBody>
            <a:bodyPr/>
            <a:lstStyle/>
            <a:p>
              <a:endParaRPr lang="en-US" sz="1200">
                <a:latin typeface="Arial"/>
                <a:cs typeface="Arial"/>
              </a:endParaRPr>
            </a:p>
          </p:txBody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2FE04C7A-D169-0F55-1C9E-5F35CD5314F0}"/>
                </a:ext>
              </a:extLst>
            </p:cNvPr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>
                <a:latin typeface="Arial"/>
                <a:cs typeface="Arial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30FECB8-AA2B-BDE2-5771-E59ED2794923}"/>
              </a:ext>
            </a:extLst>
          </p:cNvPr>
          <p:cNvGrpSpPr/>
          <p:nvPr/>
        </p:nvGrpSpPr>
        <p:grpSpPr>
          <a:xfrm flipH="1">
            <a:off x="11588250" y="5200883"/>
            <a:ext cx="374506" cy="1377935"/>
            <a:chOff x="11824756" y="6441234"/>
            <a:chExt cx="32195" cy="70295"/>
          </a:xfrm>
        </p:grpSpPr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9A8D2580-20CF-6E10-AFB6-0E5007E33982}"/>
                </a:ext>
              </a:extLst>
            </p:cNvPr>
            <p:cNvSpPr/>
            <p:nvPr/>
          </p:nvSpPr>
          <p:spPr>
            <a:xfrm>
              <a:off x="11824756" y="6479334"/>
              <a:ext cx="32195" cy="32195"/>
            </a:xfrm>
            <a:custGeom>
              <a:avLst/>
              <a:gdLst/>
              <a:ahLst/>
              <a:cxnLst/>
              <a:rect l="l" t="t" r="r" b="b"/>
              <a:pathLst>
                <a:path w="32195" h="32195">
                  <a:moveTo>
                    <a:pt x="0" y="0"/>
                  </a:moveTo>
                  <a:lnTo>
                    <a:pt x="32195" y="0"/>
                  </a:lnTo>
                  <a:lnTo>
                    <a:pt x="32195" y="32195"/>
                  </a:lnTo>
                  <a:lnTo>
                    <a:pt x="0" y="32195"/>
                  </a:lnTo>
                  <a:close/>
                </a:path>
              </a:pathLst>
            </a:custGeom>
            <a:solidFill>
              <a:srgbClr val="D50E08"/>
            </a:solidFill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200">
                <a:latin typeface="Arial"/>
                <a:cs typeface="Arial"/>
              </a:endParaRPr>
            </a:p>
          </p:txBody>
        </p:sp>
        <p:sp>
          <p:nvSpPr>
            <p:cNvPr id="31" name="TextBox 11">
              <a:extLst>
                <a:ext uri="{FF2B5EF4-FFF2-40B4-BE49-F238E27FC236}">
                  <a16:creationId xmlns:a16="http://schemas.microsoft.com/office/drawing/2014/main" id="{849FD6B2-6AC4-43AE-C050-0100CDF6EA07}"/>
                </a:ext>
              </a:extLst>
            </p:cNvPr>
            <p:cNvSpPr txBox="1"/>
            <p:nvPr/>
          </p:nvSpPr>
          <p:spPr>
            <a:xfrm>
              <a:off x="11824756" y="6441234"/>
              <a:ext cx="32195" cy="7029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>
                <a:latin typeface="Arial"/>
                <a:cs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EC89802-ECA2-D1FE-7AE4-D62EED5B061D}"/>
              </a:ext>
            </a:extLst>
          </p:cNvPr>
          <p:cNvSpPr txBox="1"/>
          <p:nvPr/>
        </p:nvSpPr>
        <p:spPr>
          <a:xfrm>
            <a:off x="713095" y="685800"/>
            <a:ext cx="7196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Financial Calculation Engine (Python/Flask Layer)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85CCAD-DF02-4B1D-B80F-68DD8BB99F76}"/>
              </a:ext>
            </a:extLst>
          </p:cNvPr>
          <p:cNvSpPr txBox="1"/>
          <p:nvPr/>
        </p:nvSpPr>
        <p:spPr>
          <a:xfrm>
            <a:off x="713095" y="1248604"/>
            <a:ext cx="9603489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When calculations are triggered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Flask App Setup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File: /BACK/</a:t>
            </a:r>
            <a:r>
              <a:rPr lang="en-US" sz="1600" dirty="0" err="1"/>
              <a:t>financal</a:t>
            </a:r>
            <a:r>
              <a:rPr lang="en-US" sz="1600" dirty="0"/>
              <a:t>-calculation/</a:t>
            </a:r>
            <a:r>
              <a:rPr lang="en-US" sz="1600" dirty="0" err="1"/>
              <a:t>app.py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Connects to PostgreSQL via </a:t>
            </a:r>
            <a:r>
              <a:rPr lang="en-US" sz="1600" dirty="0" err="1"/>
              <a:t>SQLAlchemy</a:t>
            </a:r>
            <a:r>
              <a:rPr lang="en-US" sz="1600" dirty="0"/>
              <a:t>; secures access with Firebase Auth.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Trigger Point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File: /BACK/</a:t>
            </a:r>
            <a:r>
              <a:rPr lang="en-US" sz="1600" dirty="0" err="1"/>
              <a:t>financal</a:t>
            </a:r>
            <a:r>
              <a:rPr lang="en-US" sz="1600" dirty="0"/>
              <a:t>-calculation/routes/</a:t>
            </a:r>
            <a:r>
              <a:rPr lang="en-US" sz="1600" dirty="0" err="1"/>
              <a:t>calculate.py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Endpoint: POST /calculate/{</a:t>
            </a:r>
            <a:r>
              <a:rPr lang="en-US" sz="1600" dirty="0" err="1"/>
              <a:t>property_id</a:t>
            </a:r>
            <a:r>
              <a:rPr lang="en-US" sz="1600" dirty="0"/>
              <a:t>}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Steps: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Verify Firebase token.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Fetch property + financial inputs from database.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If results already exist, use cache. If not, run calculations.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Modules &amp; Outputs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property_summary.py</a:t>
            </a:r>
            <a:r>
              <a:rPr lang="en-US" sz="1600" dirty="0"/>
              <a:t>: computes all-in basis, cap rates, $/SF.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output2.py: builds 11–15 year projections → saved in income_statement_output2.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output3.py: IRR analysis → saved in acquisition_model_output3.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output5.py: unit-level rent roll projections.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2597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24DCF-202D-8011-738B-704DD5DBF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205436D4-A015-B0DF-18EA-BCB836615D40}"/>
              </a:ext>
            </a:extLst>
          </p:cNvPr>
          <p:cNvSpPr/>
          <p:nvPr/>
        </p:nvSpPr>
        <p:spPr>
          <a:xfrm>
            <a:off x="1594288" y="6398000"/>
            <a:ext cx="3982222" cy="362026"/>
          </a:xfrm>
          <a:custGeom>
            <a:avLst/>
            <a:gdLst/>
            <a:ahLst/>
            <a:cxnLst/>
            <a:rect l="l" t="t" r="r" b="b"/>
            <a:pathLst>
              <a:path w="3982222" h="362026">
                <a:moveTo>
                  <a:pt x="0" y="0"/>
                </a:moveTo>
                <a:lnTo>
                  <a:pt x="3982222" y="0"/>
                </a:lnTo>
                <a:lnTo>
                  <a:pt x="3982222" y="362026"/>
                </a:lnTo>
                <a:lnTo>
                  <a:pt x="0" y="362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8">
            <a:extLst>
              <a:ext uri="{FF2B5EF4-FFF2-40B4-BE49-F238E27FC236}">
                <a16:creationId xmlns:a16="http://schemas.microsoft.com/office/drawing/2014/main" id="{EE16E4C3-22E9-A2DF-D001-D6B396C3036A}"/>
              </a:ext>
            </a:extLst>
          </p:cNvPr>
          <p:cNvSpPr/>
          <p:nvPr/>
        </p:nvSpPr>
        <p:spPr>
          <a:xfrm>
            <a:off x="387767" y="135952"/>
            <a:ext cx="801265" cy="448709"/>
          </a:xfrm>
          <a:custGeom>
            <a:avLst/>
            <a:gdLst/>
            <a:ahLst/>
            <a:cxnLst/>
            <a:rect l="l" t="t" r="r" b="b"/>
            <a:pathLst>
              <a:path w="1201898" h="673063">
                <a:moveTo>
                  <a:pt x="0" y="0"/>
                </a:moveTo>
                <a:lnTo>
                  <a:pt x="1201898" y="0"/>
                </a:lnTo>
                <a:lnTo>
                  <a:pt x="1201898" y="673062"/>
                </a:lnTo>
                <a:lnTo>
                  <a:pt x="0" y="6730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12" name="Group 2">
            <a:extLst>
              <a:ext uri="{FF2B5EF4-FFF2-40B4-BE49-F238E27FC236}">
                <a16:creationId xmlns:a16="http://schemas.microsoft.com/office/drawing/2014/main" id="{D29E5CBB-EAA8-7A01-0E51-B84E9E6AC507}"/>
              </a:ext>
            </a:extLst>
          </p:cNvPr>
          <p:cNvGrpSpPr/>
          <p:nvPr/>
        </p:nvGrpSpPr>
        <p:grpSpPr>
          <a:xfrm>
            <a:off x="11506200" y="-96441"/>
            <a:ext cx="685800" cy="782241"/>
            <a:chOff x="0" y="-38100"/>
            <a:chExt cx="270933" cy="309033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1202C8FA-86B2-49F2-211A-E021AF891491}"/>
                </a:ext>
              </a:extLst>
            </p:cNvPr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D50E08"/>
            </a:solidFill>
          </p:spPr>
          <p:txBody>
            <a:bodyPr/>
            <a:lstStyle/>
            <a:p>
              <a:endParaRPr lang="en-US" sz="1200">
                <a:latin typeface="Arial"/>
                <a:cs typeface="Arial"/>
              </a:endParaRPr>
            </a:p>
          </p:txBody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204DBCEB-1A3A-B616-8849-000F0D76EAF6}"/>
                </a:ext>
              </a:extLst>
            </p:cNvPr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>
                <a:latin typeface="Arial"/>
                <a:cs typeface="Arial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78378B7-1E6F-9419-BB82-69F11CC4F83E}"/>
              </a:ext>
            </a:extLst>
          </p:cNvPr>
          <p:cNvGrpSpPr/>
          <p:nvPr/>
        </p:nvGrpSpPr>
        <p:grpSpPr>
          <a:xfrm flipH="1">
            <a:off x="11588250" y="5200883"/>
            <a:ext cx="374506" cy="1377935"/>
            <a:chOff x="11824756" y="6441234"/>
            <a:chExt cx="32195" cy="70295"/>
          </a:xfrm>
        </p:grpSpPr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ABFAA7A4-5810-07DB-DA96-A8580F3E84E2}"/>
                </a:ext>
              </a:extLst>
            </p:cNvPr>
            <p:cNvSpPr/>
            <p:nvPr/>
          </p:nvSpPr>
          <p:spPr>
            <a:xfrm>
              <a:off x="11824756" y="6479334"/>
              <a:ext cx="32195" cy="32195"/>
            </a:xfrm>
            <a:custGeom>
              <a:avLst/>
              <a:gdLst/>
              <a:ahLst/>
              <a:cxnLst/>
              <a:rect l="l" t="t" r="r" b="b"/>
              <a:pathLst>
                <a:path w="32195" h="32195">
                  <a:moveTo>
                    <a:pt x="0" y="0"/>
                  </a:moveTo>
                  <a:lnTo>
                    <a:pt x="32195" y="0"/>
                  </a:lnTo>
                  <a:lnTo>
                    <a:pt x="32195" y="32195"/>
                  </a:lnTo>
                  <a:lnTo>
                    <a:pt x="0" y="32195"/>
                  </a:lnTo>
                  <a:close/>
                </a:path>
              </a:pathLst>
            </a:custGeom>
            <a:solidFill>
              <a:srgbClr val="D50E08"/>
            </a:solidFill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200">
                <a:latin typeface="Arial"/>
                <a:cs typeface="Arial"/>
              </a:endParaRPr>
            </a:p>
          </p:txBody>
        </p:sp>
        <p:sp>
          <p:nvSpPr>
            <p:cNvPr id="31" name="TextBox 11">
              <a:extLst>
                <a:ext uri="{FF2B5EF4-FFF2-40B4-BE49-F238E27FC236}">
                  <a16:creationId xmlns:a16="http://schemas.microsoft.com/office/drawing/2014/main" id="{98338DFB-063B-B8B4-57B8-6FE76005BDA6}"/>
                </a:ext>
              </a:extLst>
            </p:cNvPr>
            <p:cNvSpPr txBox="1"/>
            <p:nvPr/>
          </p:nvSpPr>
          <p:spPr>
            <a:xfrm>
              <a:off x="11824756" y="6441234"/>
              <a:ext cx="32195" cy="7029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>
                <a:latin typeface="Arial"/>
                <a:cs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1F33967-EA28-CA2D-2041-470AA7E4CB7E}"/>
              </a:ext>
            </a:extLst>
          </p:cNvPr>
          <p:cNvSpPr txBox="1"/>
          <p:nvPr/>
        </p:nvSpPr>
        <p:spPr>
          <a:xfrm>
            <a:off x="713095" y="685800"/>
            <a:ext cx="7196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Data Storage, Security, and Delivery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5837E5-8061-1875-0DF8-AD0BDE834FCE}"/>
              </a:ext>
            </a:extLst>
          </p:cNvPr>
          <p:cNvSpPr txBox="1"/>
          <p:nvPr/>
        </p:nvSpPr>
        <p:spPr>
          <a:xfrm>
            <a:off x="713095" y="1248604"/>
            <a:ext cx="960348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Where results live &amp; how they are used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Database Tables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Config: /BACK/</a:t>
            </a:r>
            <a:r>
              <a:rPr lang="en-US" sz="1600" dirty="0" err="1"/>
              <a:t>ariesview</a:t>
            </a:r>
            <a:r>
              <a:rPr lang="en-US" sz="1600" dirty="0"/>
              <a:t>-backend/config/</a:t>
            </a:r>
            <a:r>
              <a:rPr lang="en-US" sz="1600" dirty="0" err="1"/>
              <a:t>database.js</a:t>
            </a:r>
            <a:r>
              <a:rPr lang="en-US" sz="1600" dirty="0"/>
              <a:t> (Postgres pool)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Key Tables: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Inputs: properties, </a:t>
            </a:r>
            <a:r>
              <a:rPr lang="en-US" sz="1600" dirty="0" err="1"/>
              <a:t>cash_flow_inputs</a:t>
            </a:r>
            <a:r>
              <a:rPr lang="en-US" sz="1600" dirty="0"/>
              <a:t>, </a:t>
            </a:r>
            <a:r>
              <a:rPr lang="en-US" sz="1600" dirty="0" err="1"/>
              <a:t>financial_assumptions</a:t>
            </a:r>
            <a:endParaRPr lang="en-US" sz="16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Outputs: </a:t>
            </a:r>
            <a:r>
              <a:rPr lang="en-US" sz="1600" dirty="0" err="1"/>
              <a:t>property_summary</a:t>
            </a:r>
            <a:r>
              <a:rPr lang="en-US" sz="1600" dirty="0"/>
              <a:t>, </a:t>
            </a:r>
            <a:r>
              <a:rPr lang="en-US" sz="1600" dirty="0" err="1"/>
              <a:t>income_statement_summary</a:t>
            </a:r>
            <a:r>
              <a:rPr lang="en-US" sz="1600" dirty="0"/>
              <a:t>, acquisition_model_output3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Migrations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File: /BACK/</a:t>
            </a:r>
            <a:r>
              <a:rPr lang="en-US" sz="1600" dirty="0" err="1"/>
              <a:t>ariesview</a:t>
            </a:r>
            <a:r>
              <a:rPr lang="en-US" sz="1600" dirty="0"/>
              <a:t>-backend/services/</a:t>
            </a:r>
            <a:r>
              <a:rPr lang="en-US" sz="1600" dirty="0" err="1"/>
              <a:t>migrationScripts</a:t>
            </a:r>
            <a:r>
              <a:rPr lang="en-US" sz="1600" dirty="0"/>
              <a:t>/</a:t>
            </a:r>
            <a:r>
              <a:rPr lang="en-US" sz="1600" dirty="0" err="1"/>
              <a:t>dbMigrationService.js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Automatically creates/updates tables like </a:t>
            </a:r>
            <a:r>
              <a:rPr lang="en-US" sz="1600" dirty="0" err="1"/>
              <a:t>financial_income_items</a:t>
            </a:r>
            <a:r>
              <a:rPr lang="en-US" sz="1600" dirty="0"/>
              <a:t> and </a:t>
            </a:r>
            <a:r>
              <a:rPr lang="en-US" sz="1600" dirty="0" err="1"/>
              <a:t>financial_expense_items</a:t>
            </a:r>
            <a:r>
              <a:rPr lang="en-US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Security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Firebase ID tokens isolate user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SAS tokens secure Azure Blob access.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All queries filter by </a:t>
            </a:r>
            <a:r>
              <a:rPr lang="en-US" sz="1600" dirty="0" err="1"/>
              <a:t>firebase_uid</a:t>
            </a:r>
            <a:r>
              <a:rPr lang="en-US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Final Outputs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Reports</a:t>
            </a:r>
            <a:r>
              <a:rPr lang="en-US" sz="1600" dirty="0"/>
              <a:t> – exported PDFs/Excel models.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Dashboards</a:t>
            </a:r>
            <a:r>
              <a:rPr lang="en-US" sz="1600" dirty="0"/>
              <a:t> – KPIs and cash flow visualizations.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APIs</a:t>
            </a:r>
            <a:r>
              <a:rPr lang="en-US" sz="1600" dirty="0"/>
              <a:t> – structured JSON responses for the frontend.</a:t>
            </a:r>
          </a:p>
          <a:p>
            <a:r>
              <a:rPr lang="en-US" sz="1600" b="1" dirty="0"/>
              <a:t>End-to-End Story:</a:t>
            </a:r>
            <a:br>
              <a:rPr lang="en-US" sz="1600" dirty="0"/>
            </a:br>
            <a:r>
              <a:rPr lang="en-US" sz="1600" dirty="0"/>
              <a:t>Inputs (manual + docs + AI) → Validated/Stored in DB → Python Engine Calculates → Results saved → Outputs delivered securely to users.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9383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C113921814534ABCEAAD117B6AA15B" ma:contentTypeVersion="3" ma:contentTypeDescription="Create a new document." ma:contentTypeScope="" ma:versionID="b72048b21590eca122060b0b3788588d">
  <xsd:schema xmlns:xsd="http://www.w3.org/2001/XMLSchema" xmlns:xs="http://www.w3.org/2001/XMLSchema" xmlns:p="http://schemas.microsoft.com/office/2006/metadata/properties" xmlns:ns2="7295ecc6-665d-405d-bb51-589e91971ac7" targetNamespace="http://schemas.microsoft.com/office/2006/metadata/properties" ma:root="true" ma:fieldsID="6f3794ef2b8d01baee05b6e9a327f9fe" ns2:_="">
    <xsd:import namespace="7295ecc6-665d-405d-bb51-589e91971a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95ecc6-665d-405d-bb51-589e91971a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C18242-3522-40E4-9B48-598424BDF8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295ecc6-665d-405d-bb51-589e91971a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188D492-05A9-4261-8B16-5795E90C93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AFC889-4AC1-43FA-A7F4-E85176039110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</TotalTime>
  <Words>676</Words>
  <Application>Microsoft Macintosh PowerPoint</Application>
  <PresentationFormat>Widescreen</PresentationFormat>
  <Paragraphs>67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Illuri, Anish R.</cp:lastModifiedBy>
  <cp:revision>107</cp:revision>
  <dcterms:created xsi:type="dcterms:W3CDTF">2025-08-20T08:52:15Z</dcterms:created>
  <dcterms:modified xsi:type="dcterms:W3CDTF">2025-08-26T23:46:34Z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0x0101008EC113921814534ABCEAAD117B6AA15B</vt:lpwstr>
  </property>
</Properties>
</file>